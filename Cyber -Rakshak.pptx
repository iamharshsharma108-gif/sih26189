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8" r:id="rId4"/>
    <p:sldId id="290" r:id="rId5"/>
    <p:sldId id="293" r:id="rId6"/>
    <p:sldId id="294" r:id="rId7"/>
    <p:sldId id="300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80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features/deep-research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hyperlink" Target="https://youtu.be/qXS75gvT8_A?si=0ISiUE2F8FNZtB7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=""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22070" y="1941343"/>
            <a:ext cx="3273315" cy="350089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067940" y="170303"/>
            <a:ext cx="7247901" cy="43459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Algerian" pitchFamily="82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Algerian" pitchFamily="82" charset="0"/>
                <a:cs typeface="Times New Roman" panose="02020603050405020304" pitchFamily="18" charset="0"/>
              </a:rPr>
              <a:t>TITLE </a:t>
            </a:r>
            <a:r>
              <a:rPr lang="en-US" b="1" dirty="0" smtClean="0">
                <a:solidFill>
                  <a:schemeClr val="tx1"/>
                </a:solidFill>
                <a:latin typeface="Algerian" pitchFamily="82" charset="0"/>
                <a:cs typeface="Times New Roman" panose="02020603050405020304" pitchFamily="18" charset="0"/>
              </a:rPr>
              <a:t>PAGE</a:t>
            </a:r>
            <a:endParaRPr lang="en-IN" b="1" dirty="0">
              <a:solidFill>
                <a:schemeClr val="tx1"/>
              </a:solidFill>
              <a:latin typeface="Algerian" pitchFamily="82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2037" y="0"/>
            <a:ext cx="9935963" cy="851521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Algerian" pitchFamily="82" charset="0"/>
                <a:cs typeface="Arial" pitchFamily="34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Algerian" pitchFamily="82" charset="0"/>
                <a:cs typeface="Arial" pitchFamily="34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Algerian" pitchFamily="82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202" y="1293841"/>
            <a:ext cx="1167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 Black" pitchFamily="34" charset="0"/>
            </a:endParaRPr>
          </a:p>
        </p:txBody>
      </p:sp>
      <p:sp>
        <p:nvSpPr>
          <p:cNvPr id="1028" name="AutoShape 4" descr="https://lh3.googleusercontent.com/gg/ACRwjauWbVLw7KooXlm0rIjz8IB1bepA8hV6CDaaE5qCGSAMIiu_ycAVRXcX9AqIs9tWAQvnSE0lLEtAsPoCp1fDNto1LQTYzEYrWCoz5bsTjujFstVbaQJhVtu-RanVuD9CfHwSA6Er95d7VN4BaSabhfwsQ-O1AVoUeSGZYiNxQ5SvafNzfHeXHewzqYpW9kbeGLlImcSRw7h-sZxdEApMLrVb87oY_vbn6GcH2MCswFkjCdkJC-AVsdLsPvSN4E5mWfzBsMaxU1RYEvoWgkKoaXaAL_IDEv9CWgPvmpBcODqd9LS7GYdIA3Ay0Jy6GDyq1_vMMh6LblS_0HHCUVOTVMg=s160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lh3.googleusercontent.com/gg/ACRwjauWbVLw7KooXlm0rIjz8IB1bepA8hV6CDaaE5qCGSAMIiu_ycAVRXcX9AqIs9tWAQvnSE0lLEtAsPoCp1fDNto1LQTYzEYrWCoz5bsTjujFstVbaQJhVtu-RanVuD9CfHwSA6Er95d7VN4BaSabhfwsQ-O1AVoUeSGZYiNxQ5SvafNzfHeXHewzqYpW9kbeGLlImcSRw7h-sZxdEApMLrVb87oY_vbn6GcH2MCswFkjCdkJC-AVsdLsPvSN4E5mWfzBsMaxU1RYEvoWgkKoaXaAL_IDEv9CWgPvmpBcODqd9LS7GYdIA3Ay0Jy6GDyq1_vMMh6LblS_0HHCUVOTVMg=s160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0375" y="1632610"/>
          <a:ext cx="6967368" cy="399259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92647"/>
                <a:gridCol w="3474721"/>
              </a:tblGrid>
              <a:tr h="691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PROBLEM</a:t>
                      </a:r>
                      <a:r>
                        <a:rPr lang="en-US" baseline="0" dirty="0" smtClean="0">
                          <a:latin typeface="Arial Black" pitchFamily="34" charset="0"/>
                        </a:rPr>
                        <a:t> STATEMENT ID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26189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98753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  <a:latin typeface="Arial Black" pitchFamily="34" charset="0"/>
                        </a:rPr>
                        <a:t>PROBLEM STATEMENT 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  <a:latin typeface="Arial Black" pitchFamily="34" charset="0"/>
                        </a:rPr>
                        <a:t>AI POWERED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  <a:latin typeface="Arial Black" pitchFamily="34" charset="0"/>
                        </a:rPr>
                        <a:t> CRIMINAL NETWORK ANALYSIS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98753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THEME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POWERED</a:t>
                      </a:r>
                      <a:r>
                        <a:rPr lang="en-US" baseline="0" dirty="0" smtClean="0">
                          <a:latin typeface="Arial Black" pitchFamily="34" charset="0"/>
                        </a:rPr>
                        <a:t> AI FOR ACCLERATING INVESTIGATION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442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PS</a:t>
                      </a:r>
                      <a:r>
                        <a:rPr lang="en-US" baseline="0" dirty="0" smtClean="0">
                          <a:latin typeface="Arial Black" pitchFamily="34" charset="0"/>
                        </a:rPr>
                        <a:t> CATEGORY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SOFTWARE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442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TEAM ID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442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TEAM NAME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CYBER RAKSHAK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7759" y="5625207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914400" y="161282"/>
            <a:ext cx="10363200" cy="1470025"/>
          </a:xfrm>
        </p:spPr>
        <p:txBody>
          <a:bodyPr/>
          <a:lstStyle/>
          <a:p>
            <a:pPr algn="ctr"/>
            <a:r>
              <a:rPr lang="en-US" sz="2400" dirty="0" smtClean="0">
                <a:latin typeface="Arial Black" pitchFamily="34" charset="0"/>
              </a:rPr>
              <a:t>CYBER RAKSHAK</a:t>
            </a:r>
            <a:br>
              <a:rPr lang="en-US" sz="2400" dirty="0" smtClean="0">
                <a:latin typeface="Arial Black" pitchFamily="34" charset="0"/>
              </a:rPr>
            </a:br>
            <a:r>
              <a:rPr lang="en-US" sz="2400" dirty="0" smtClean="0">
                <a:latin typeface="Arial Black" pitchFamily="34" charset="0"/>
              </a:rPr>
              <a:t>AI-Powered Criminal Network Analysis &amp; Investigation Portal</a:t>
            </a:r>
            <a:br>
              <a:rPr lang="en-US" sz="2400" dirty="0" smtClean="0">
                <a:latin typeface="Arial Black" pitchFamily="34" charset="0"/>
              </a:rPr>
            </a:br>
            <a:r>
              <a:rPr lang="en-US" sz="2400" dirty="0" smtClean="0">
                <a:latin typeface="Arial Black" pitchFamily="34" charset="0"/>
              </a:rPr>
              <a:t/>
            </a:r>
            <a:br>
              <a:rPr lang="en-US" sz="2400" dirty="0" smtClean="0">
                <a:latin typeface="Arial Black" pitchFamily="34" charset="0"/>
              </a:rPr>
            </a:br>
            <a:endParaRPr lang="en-US" sz="2400" b="1" dirty="0"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" name="Subtitle 14"/>
          <p:cNvSpPr>
            <a:spLocks noGrp="1"/>
          </p:cNvSpPr>
          <p:nvPr>
            <p:ph type="subTitle" idx="1"/>
          </p:nvPr>
        </p:nvSpPr>
        <p:spPr>
          <a:xfrm>
            <a:off x="98477" y="1003563"/>
            <a:ext cx="3759199" cy="43637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What we are introducing?</a:t>
            </a:r>
            <a:endParaRPr lang="en-US" sz="1800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Subtitle 14"/>
          <p:cNvSpPr txBox="1">
            <a:spLocks/>
          </p:cNvSpPr>
          <p:nvPr/>
        </p:nvSpPr>
        <p:spPr bwMode="auto">
          <a:xfrm>
            <a:off x="98477" y="1631307"/>
            <a:ext cx="4565848" cy="25608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en-US" dirty="0" smtClean="0">
                <a:latin typeface="Arial Black" pitchFamily="34" charset="0"/>
              </a:rPr>
              <a:t>An AI-driven platform that combines heterogeneous public and investigative data to identify suspicious patterns, analyze relationships between entities, and assist investigators in discovering potential criminal networks.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Subtitle 14"/>
          <p:cNvSpPr txBox="1">
            <a:spLocks/>
          </p:cNvSpPr>
          <p:nvPr/>
        </p:nvSpPr>
        <p:spPr bwMode="auto">
          <a:xfrm>
            <a:off x="140681" y="4867422"/>
            <a:ext cx="3759199" cy="1266092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600" dirty="0" smtClean="0">
                <a:solidFill>
                  <a:schemeClr val="tx1"/>
                </a:solidFill>
                <a:latin typeface="Arial Black" pitchFamily="34" charset="0"/>
              </a:rPr>
              <a:t>Key Innovation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3314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07054" y="62345"/>
            <a:ext cx="884946" cy="884946"/>
          </a:xfrm>
          <a:prstGeom prst="rect">
            <a:avLst/>
          </a:prstGeom>
          <a:noFill/>
        </p:spPr>
      </p:pic>
      <p:sp>
        <p:nvSpPr>
          <p:cNvPr id="33" name="Subtitle 14"/>
          <p:cNvSpPr txBox="1">
            <a:spLocks/>
          </p:cNvSpPr>
          <p:nvPr/>
        </p:nvSpPr>
        <p:spPr bwMode="auto">
          <a:xfrm>
            <a:off x="7223760" y="2681276"/>
            <a:ext cx="3759199" cy="436370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eaLnBrk="0" hangingPunct="0">
              <a:spcBef>
                <a:spcPct val="20000"/>
              </a:spcBef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968233" y="933223"/>
          <a:ext cx="7004150" cy="581513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2075"/>
                <a:gridCol w="3502075"/>
              </a:tblGrid>
              <a:tr h="2343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Purpose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Multi-Source 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Combines fragmented investigation data</a:t>
                      </a:r>
                    </a:p>
                  </a:txBody>
                  <a:tcPr anchor="ctr"/>
                </a:tc>
              </a:tr>
              <a:tr h="5041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Entity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latin typeface="Arial Black" pitchFamily="34" charset="0"/>
                        </a:rPr>
                        <a:t>Identifies people, phones, vehicles, locations, cases, etc.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Relationship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Finds connections between entities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Interactive Network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Visualizes the complete network</a:t>
                      </a:r>
                    </a:p>
                  </a:txBody>
                  <a:tcPr anchor="ctr"/>
                </a:tc>
              </a:tr>
              <a:tr h="23431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AI Pattern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Detects meaningful patterns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Highlights unusual relationships/activities</a:t>
                      </a:r>
                    </a:p>
                  </a:txBody>
                  <a:tcPr anchor="ctr"/>
                </a:tc>
              </a:tr>
              <a:tr h="23431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Risk 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Helps prioritize investigation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Timeline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Understands events chronologically</a:t>
                      </a:r>
                    </a:p>
                  </a:txBody>
                  <a:tcPr anchor="ctr"/>
                </a:tc>
              </a:tr>
              <a:tr h="3571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Case Linking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Connects related cases/entities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Explainable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Shows reasons behind generated indicators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Investigator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Provides one unified investigation interface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Human-in-the-Loop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Keeps final judgment with the investigator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37" name="Straight Arrow Connector 36"/>
          <p:cNvCxnSpPr/>
          <p:nvPr/>
        </p:nvCxnSpPr>
        <p:spPr>
          <a:xfrm>
            <a:off x="3899880" y="5444197"/>
            <a:ext cx="106835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81" y="239152"/>
            <a:ext cx="810896" cy="478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@SIH Idea submission- Template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Subtitle 14"/>
          <p:cNvSpPr txBox="1">
            <a:spLocks/>
          </p:cNvSpPr>
          <p:nvPr/>
        </p:nvSpPr>
        <p:spPr bwMode="auto">
          <a:xfrm>
            <a:off x="3759202" y="112544"/>
            <a:ext cx="3759199" cy="436370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How it works?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8" name="Picture 7" descr="ChatGPT Image Sep 8, 2026, 10_16_4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26" y="680591"/>
            <a:ext cx="11437034" cy="60408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7650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9298" y="0"/>
            <a:ext cx="928468" cy="928468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76" y="202565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TECHNICAL </a:t>
            </a:r>
            <a:r>
              <a:rPr lang="en-US" sz="3600" b="1" dirty="0" smtClean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 APPROACH</a:t>
            </a:r>
            <a:endParaRPr lang="en-US" sz="3600" b="1" dirty="0"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75582" y="1185999"/>
          <a:ext cx="9158067" cy="545717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52689"/>
                <a:gridCol w="3052689"/>
                <a:gridCol w="3052689"/>
              </a:tblGrid>
              <a:tr h="261141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Innovation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Technology Used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Purpose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Multi-Source Data Fusion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Python, Pandas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Collect, clean &amp; combine heterogeneous data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Entity Resolution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Python, Fuzzy Matching / NLP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Identify matching or related entities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48707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Relationship Discovery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 Black" pitchFamily="34" charset="0"/>
                        </a:rPr>
                        <a:t>NetworkX</a:t>
                      </a:r>
                      <a:endParaRPr lang="en-US" sz="1300" dirty="0">
                        <a:latin typeface="Arial Black" pitchFamily="34" charset="0"/>
                      </a:endParaRP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Find relationships between people, phones, addresses, vehicles &amp; cases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52851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Criminal Network Graph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NetworkX + Graph Visualization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Visualize hidden connections and network structures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AI Pattern Analysis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Scikit-learn / ML Models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Detect anomalies and suspicious patterns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Text Intelligence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NLP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Extract useful entities and information from text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Risk Intelligence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Python + ML/Rule-based Scoring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Generate explainable risk indicators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Interactive Dashboard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Streamlit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Provide investigator-facing analysis interface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Data Storage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JSON / CSV / Server Storage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Persist investigation and application data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Explainable Results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Rule/Feature-based Explanation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Show why an entity or network was flagged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pic>
        <p:nvPicPr>
          <p:cNvPr id="18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3932" y="110583"/>
            <a:ext cx="928468" cy="928468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79" y="173675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81464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4" name="Subtitle 13"/>
          <p:cNvSpPr>
            <a:spLocks noGrp="1"/>
          </p:cNvSpPr>
          <p:nvPr>
            <p:ph type="subTitle" idx="4294967295"/>
          </p:nvPr>
        </p:nvSpPr>
        <p:spPr>
          <a:xfrm>
            <a:off x="582997" y="794676"/>
            <a:ext cx="3348111" cy="460717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FEASIBILITY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5" name="Picture 14" descr="Feasibility &amp; Viability Flowchart_page-0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8" y="1280147"/>
            <a:ext cx="6119444" cy="5577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 descr="ChatGPT Image Sep 8, 2026, 10_38_11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76" y="1550821"/>
            <a:ext cx="6622517" cy="441501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Subtitle 13"/>
          <p:cNvSpPr txBox="1">
            <a:spLocks/>
          </p:cNvSpPr>
          <p:nvPr/>
        </p:nvSpPr>
        <p:spPr bwMode="auto">
          <a:xfrm>
            <a:off x="7063544" y="850948"/>
            <a:ext cx="3348111" cy="460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smtClean="0">
                <a:latin typeface="Arial Black" pitchFamily="34" charset="0"/>
                <a:ea typeface="ＭＳ Ｐゴシック" charset="0"/>
                <a:cs typeface="ＭＳ Ｐゴシック" charset="0"/>
              </a:rPr>
              <a:t>VIABILITY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9" name="Picture 2" descr="Smart India Hackathon 2026 (@SIH2025) / X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25796" y="104549"/>
            <a:ext cx="928468" cy="928468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0675" y="104549"/>
            <a:ext cx="1170017" cy="690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2729133" y="-45696"/>
            <a:ext cx="5411372" cy="108474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sz="3600" b="1" dirty="0" smtClean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BENEFITS</a:t>
            </a:r>
            <a:endParaRPr lang="en-US" sz="3600" b="1" dirty="0"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>
          <a:xfrm>
            <a:off x="478292" y="1165663"/>
            <a:ext cx="8321823" cy="5433671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BENEFITS OF CYBER RAKSHAK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⚡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Faster Investigation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Reduces time spent on manual data correlation.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🔗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Hidden Connection Discovery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Reveals relationships between people, cases, locations, vehicles and other entities.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🧠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AI-Assisted Analysis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Detects suspicious patterns and anomalies across connected data.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📊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Better Decision Support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Provides network graphs, timelines, risk indicators and explainable insights.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🎯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Investigation Prioritization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Helps investigators identify cases and relationships that may require closer attention.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🔍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Centralized Intelligence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Brings fragmented information into a unified investigation view.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👮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Human-in-the-Loop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Supports investigators while keeping final decisions with authorized human experts.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📈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Scalable Platform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Can be expanded with new datasets, analytical models and authorized data sources.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Arial Black" pitchFamily="34" charset="0"/>
            </a:endParaRPr>
          </a:p>
        </p:txBody>
      </p:sp>
      <p:pic>
        <p:nvPicPr>
          <p:cNvPr id="13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81957" y="110582"/>
            <a:ext cx="1200443" cy="1200443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76" y="110582"/>
            <a:ext cx="1280161" cy="755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92615" y="2158546"/>
            <a:ext cx="5076073" cy="2007054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WORKING PROCEDURE ON PORTAL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6" name="Picture 5" descr="Gemini_Generated_Image_mvhbyvmvhbyvmvh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828" y="0"/>
            <a:ext cx="6412004" cy="6858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5235" y="4381127"/>
            <a:ext cx="2096087" cy="2096087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76" y="202565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half" idx="2"/>
          </p:nvPr>
        </p:nvSpPr>
        <p:spPr>
          <a:xfrm>
            <a:off x="872197" y="1095375"/>
            <a:ext cx="11099409" cy="5030791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USING CHATGPT AND GEMINI:-</a:t>
            </a:r>
          </a:p>
          <a:p>
            <a:r>
              <a:rPr lang="en-US" b="1" dirty="0" smtClean="0">
                <a:latin typeface="Arial Black" pitchFamily="34" charset="0"/>
                <a:hlinkClick r:id="rId3"/>
              </a:rPr>
              <a:t>https://chatgpt.com/features/deep-research/?utm_source=chatgpt.com</a:t>
            </a:r>
            <a:endParaRPr lang="en-US" b="1" dirty="0" smtClean="0">
              <a:latin typeface="Arial Black" pitchFamily="34" charset="0"/>
            </a:endParaRPr>
          </a:p>
          <a:p>
            <a:r>
              <a:rPr lang="en-US" dirty="0" smtClean="0">
                <a:latin typeface="Arial Black" pitchFamily="34" charset="0"/>
              </a:rPr>
              <a:t>ON YOUTUBE:-</a:t>
            </a:r>
          </a:p>
          <a:p>
            <a:r>
              <a:rPr lang="en-US" b="1" dirty="0" smtClean="0">
                <a:latin typeface="Arial Black" pitchFamily="34" charset="0"/>
                <a:hlinkClick r:id="rId4"/>
              </a:rPr>
              <a:t>https://youtu.be/qXS75gvT8_A?si=0ISiUE2F8FNZtB7c</a:t>
            </a:r>
            <a:endParaRPr lang="en-US" b="1" dirty="0" smtClean="0">
              <a:latin typeface="Arial Black" pitchFamily="34" charset="0"/>
            </a:endParaRPr>
          </a:p>
          <a:p>
            <a:r>
              <a:rPr lang="en-US" b="1" dirty="0" smtClean="0">
                <a:latin typeface="Arial Black" pitchFamily="34" charset="0"/>
                <a:hlinkClick r:id="rId4"/>
              </a:rPr>
              <a:t>https://youtu.be/qXS75gvT8_A?si=0ISiUE2F8FNZtB7c</a:t>
            </a:r>
            <a:endParaRPr lang="en-US" b="1" dirty="0" smtClean="0">
              <a:latin typeface="Arial Black" pitchFamily="34" charset="0"/>
            </a:endParaRPr>
          </a:p>
          <a:p>
            <a:r>
              <a:rPr lang="en-US" b="1" dirty="0" smtClean="0">
                <a:latin typeface="Arial Black" pitchFamily="34" charset="0"/>
              </a:rPr>
              <a:t>GITHUB:-</a:t>
            </a:r>
          </a:p>
          <a:p>
            <a:r>
              <a:rPr lang="en-US" b="1" dirty="0" smtClean="0">
                <a:latin typeface="Arial Black" pitchFamily="34" charset="0"/>
              </a:rPr>
              <a:t>https://github.com/iamharshsharma108-gif/SIH26189.git</a:t>
            </a:r>
          </a:p>
          <a:p>
            <a:pPr>
              <a:buNone/>
            </a:pPr>
            <a:endParaRPr lang="en-US" dirty="0" smtClean="0">
              <a:latin typeface="Arial Black" pitchFamily="34" charset="0"/>
            </a:endParaRPr>
          </a:p>
          <a:p>
            <a:endParaRPr lang="en-US" dirty="0">
              <a:latin typeface="Arial Black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3" name="Picture 2" descr="Smart India Hackathon 2026 (@SIH2025) / X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53932" y="110583"/>
            <a:ext cx="928468" cy="928468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540" y="78987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7683</TotalTime>
  <Words>475</Words>
  <Application>Microsoft Office PowerPoint</Application>
  <PresentationFormat>Custom</PresentationFormat>
  <Paragraphs>115</Paragraphs>
  <Slides>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SMART INDIA HACKATHON 2026</vt:lpstr>
      <vt:lpstr>CYBER RAKSHAK AI-Powered Criminal Network Analysis &amp; Investigation Portal  </vt:lpstr>
      <vt:lpstr>Slide 3</vt:lpstr>
      <vt:lpstr>TECHNICAL  APPROACH</vt:lpstr>
      <vt:lpstr>FEASIBILITY AND VIABILITY</vt:lpstr>
      <vt:lpstr>BENEFITS</vt:lpstr>
      <vt:lpstr>WORKING PROCEDURE ON PORTAL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user</cp:lastModifiedBy>
  <cp:revision>169</cp:revision>
  <dcterms:created xsi:type="dcterms:W3CDTF">2013-12-12T18:46:50Z</dcterms:created>
  <dcterms:modified xsi:type="dcterms:W3CDTF">2026-09-08T18:03:12Z</dcterms:modified>
</cp:coreProperties>
</file>